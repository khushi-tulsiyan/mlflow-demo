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4630400" cy="8229600"/>
  <p:notesSz cx="6858000" cy="9144000"/>
  <p:defaultTextStyle>
    <a:defPPr>
      <a:defRPr lang="en-US"/>
    </a:defPPr>
    <a:lvl1pPr marL="0" algn="l" defTabSz="65311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53110" algn="l" defTabSz="65311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06220" algn="l" defTabSz="65311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59331" algn="l" defTabSz="65311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12441" algn="l" defTabSz="65311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65551" algn="l" defTabSz="65311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14" autoAdjust="0"/>
  </p:normalViewPr>
  <p:slideViewPr>
    <p:cSldViewPr snapToGrid="0" snapToObjects="1">
      <p:cViewPr>
        <p:scale>
          <a:sx n="89" d="100"/>
          <a:sy n="89" d="100"/>
        </p:scale>
        <p:origin x="619" y="-58"/>
      </p:cViewPr>
      <p:guideLst>
        <p:guide orient="horz" pos="2592"/>
        <p:guide pos="4608"/>
      </p:guideLst>
    </p:cSldViewPr>
  </p:slideViewPr>
  <p:outlineViewPr>
    <p:cViewPr>
      <p:scale>
        <a:sx n="33" d="100"/>
        <a:sy n="33" d="100"/>
      </p:scale>
      <p:origin x="0" y="435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2B1FB-B2D9-4127-89FF-059247097D0C}" type="datetimeFigureOut">
              <a:rPr lang="en-US" smtClean="0"/>
              <a:t>10-Nov-25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B86623-EF4D-40DC-A8FD-B8C30F758AD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948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062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653110" algn="l" defTabSz="13062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1306220" algn="l" defTabSz="13062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959331" algn="l" defTabSz="13062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2612441" algn="l" defTabSz="13062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3265551" algn="l" defTabSz="13062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13062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13062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13062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86623-EF4D-40DC-A8FD-B8C30F758AD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398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556512"/>
            <a:ext cx="12435840" cy="176403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53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2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4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29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88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5288282"/>
            <a:ext cx="12435840" cy="163449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488056"/>
            <a:ext cx="12435840" cy="1800224"/>
          </a:xfrm>
        </p:spPr>
        <p:txBody>
          <a:bodyPr anchor="b"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653077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155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23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3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38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46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54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62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450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0941" y="2305050"/>
            <a:ext cx="10411459" cy="651700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26242" y="2305050"/>
            <a:ext cx="10411461" cy="651700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407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842136"/>
            <a:ext cx="6464301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077" indent="0">
              <a:buNone/>
              <a:defRPr sz="2900" b="1"/>
            </a:lvl2pPr>
            <a:lvl3pPr marL="1306155" indent="0">
              <a:buNone/>
              <a:defRPr sz="2600" b="1"/>
            </a:lvl3pPr>
            <a:lvl4pPr marL="1959233" indent="0">
              <a:buNone/>
              <a:defRPr sz="2300" b="1"/>
            </a:lvl4pPr>
            <a:lvl5pPr marL="2612311" indent="0">
              <a:buNone/>
              <a:defRPr sz="2300" b="1"/>
            </a:lvl5pPr>
            <a:lvl6pPr marL="3265388" indent="0">
              <a:buNone/>
              <a:defRPr sz="2300" b="1"/>
            </a:lvl6pPr>
            <a:lvl7pPr marL="3918465" indent="0">
              <a:buNone/>
              <a:defRPr sz="2300" b="1"/>
            </a:lvl7pPr>
            <a:lvl8pPr marL="4571543" indent="0">
              <a:buNone/>
              <a:defRPr sz="2300" b="1"/>
            </a:lvl8pPr>
            <a:lvl9pPr marL="5224620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609850"/>
            <a:ext cx="6464301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2" y="1842136"/>
            <a:ext cx="6466840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077" indent="0">
              <a:buNone/>
              <a:defRPr sz="2900" b="1"/>
            </a:lvl2pPr>
            <a:lvl3pPr marL="1306155" indent="0">
              <a:buNone/>
              <a:defRPr sz="2600" b="1"/>
            </a:lvl3pPr>
            <a:lvl4pPr marL="1959233" indent="0">
              <a:buNone/>
              <a:defRPr sz="2300" b="1"/>
            </a:lvl4pPr>
            <a:lvl5pPr marL="2612311" indent="0">
              <a:buNone/>
              <a:defRPr sz="2300" b="1"/>
            </a:lvl5pPr>
            <a:lvl6pPr marL="3265388" indent="0">
              <a:buNone/>
              <a:defRPr sz="2300" b="1"/>
            </a:lvl6pPr>
            <a:lvl7pPr marL="3918465" indent="0">
              <a:buNone/>
              <a:defRPr sz="2300" b="1"/>
            </a:lvl7pPr>
            <a:lvl8pPr marL="4571543" indent="0">
              <a:buNone/>
              <a:defRPr sz="2300" b="1"/>
            </a:lvl8pPr>
            <a:lvl9pPr marL="5224620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2" y="2609850"/>
            <a:ext cx="6466840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36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21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46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2" y="327660"/>
            <a:ext cx="4813301" cy="1394460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080" y="327660"/>
            <a:ext cx="8178800" cy="7023736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2" y="1722120"/>
            <a:ext cx="4813301" cy="5629276"/>
          </a:xfrm>
        </p:spPr>
        <p:txBody>
          <a:bodyPr/>
          <a:lstStyle>
            <a:lvl1pPr marL="0" indent="0">
              <a:buNone/>
              <a:defRPr sz="2000"/>
            </a:lvl1pPr>
            <a:lvl2pPr marL="653077" indent="0">
              <a:buNone/>
              <a:defRPr sz="1700"/>
            </a:lvl2pPr>
            <a:lvl3pPr marL="1306155" indent="0">
              <a:buNone/>
              <a:defRPr sz="1400"/>
            </a:lvl3pPr>
            <a:lvl4pPr marL="1959233" indent="0">
              <a:buNone/>
              <a:defRPr sz="1300"/>
            </a:lvl4pPr>
            <a:lvl5pPr marL="2612311" indent="0">
              <a:buNone/>
              <a:defRPr sz="1300"/>
            </a:lvl5pPr>
            <a:lvl6pPr marL="3265388" indent="0">
              <a:buNone/>
              <a:defRPr sz="1300"/>
            </a:lvl6pPr>
            <a:lvl7pPr marL="3918465" indent="0">
              <a:buNone/>
              <a:defRPr sz="1300"/>
            </a:lvl7pPr>
            <a:lvl8pPr marL="4571543" indent="0">
              <a:buNone/>
              <a:defRPr sz="1300"/>
            </a:lvl8pPr>
            <a:lvl9pPr marL="5224620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164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661" y="5760720"/>
            <a:ext cx="8778240" cy="680086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67661" y="735330"/>
            <a:ext cx="8778240" cy="4937760"/>
          </a:xfrm>
        </p:spPr>
        <p:txBody>
          <a:bodyPr/>
          <a:lstStyle>
            <a:lvl1pPr marL="0" indent="0">
              <a:buNone/>
              <a:defRPr sz="4600"/>
            </a:lvl1pPr>
            <a:lvl2pPr marL="653077" indent="0">
              <a:buNone/>
              <a:defRPr sz="4000"/>
            </a:lvl2pPr>
            <a:lvl3pPr marL="1306155" indent="0">
              <a:buNone/>
              <a:defRPr sz="3400"/>
            </a:lvl3pPr>
            <a:lvl4pPr marL="1959233" indent="0">
              <a:buNone/>
              <a:defRPr sz="2900"/>
            </a:lvl4pPr>
            <a:lvl5pPr marL="2612311" indent="0">
              <a:buNone/>
              <a:defRPr sz="2900"/>
            </a:lvl5pPr>
            <a:lvl6pPr marL="3265388" indent="0">
              <a:buNone/>
              <a:defRPr sz="2900"/>
            </a:lvl6pPr>
            <a:lvl7pPr marL="3918465" indent="0">
              <a:buNone/>
              <a:defRPr sz="2900"/>
            </a:lvl7pPr>
            <a:lvl8pPr marL="4571543" indent="0">
              <a:buNone/>
              <a:defRPr sz="2900"/>
            </a:lvl8pPr>
            <a:lvl9pPr marL="5224620" indent="0">
              <a:buNone/>
              <a:defRPr sz="29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1" y="6440806"/>
            <a:ext cx="8778240" cy="965834"/>
          </a:xfrm>
        </p:spPr>
        <p:txBody>
          <a:bodyPr/>
          <a:lstStyle>
            <a:lvl1pPr marL="0" indent="0">
              <a:buNone/>
              <a:defRPr sz="2000"/>
            </a:lvl1pPr>
            <a:lvl2pPr marL="653077" indent="0">
              <a:buNone/>
              <a:defRPr sz="1700"/>
            </a:lvl2pPr>
            <a:lvl3pPr marL="1306155" indent="0">
              <a:buNone/>
              <a:defRPr sz="1400"/>
            </a:lvl3pPr>
            <a:lvl4pPr marL="1959233" indent="0">
              <a:buNone/>
              <a:defRPr sz="1300"/>
            </a:lvl4pPr>
            <a:lvl5pPr marL="2612311" indent="0">
              <a:buNone/>
              <a:defRPr sz="1300"/>
            </a:lvl5pPr>
            <a:lvl6pPr marL="3265388" indent="0">
              <a:buNone/>
              <a:defRPr sz="1300"/>
            </a:lvl6pPr>
            <a:lvl7pPr marL="3918465" indent="0">
              <a:buNone/>
              <a:defRPr sz="1300"/>
            </a:lvl7pPr>
            <a:lvl8pPr marL="4571543" indent="0">
              <a:buNone/>
              <a:defRPr sz="1300"/>
            </a:lvl8pPr>
            <a:lvl9pPr marL="5224620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398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934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972280" y="396240"/>
            <a:ext cx="5265421" cy="842581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0943" y="396240"/>
            <a:ext cx="15557499" cy="842581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55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</p:spPr>
        <p:txBody>
          <a:bodyPr vert="horz" lIns="130615" tIns="65308" rIns="130615" bIns="6530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</p:spPr>
        <p:txBody>
          <a:bodyPr vert="horz" lIns="130615" tIns="65308" rIns="130615" bIns="6530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7627622"/>
            <a:ext cx="3413760" cy="438150"/>
          </a:xfrm>
          <a:prstGeom prst="rect">
            <a:avLst/>
          </a:prstGeom>
        </p:spPr>
        <p:txBody>
          <a:bodyPr vert="horz" lIns="130615" tIns="65308" rIns="130615" bIns="65308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7627622"/>
            <a:ext cx="4632960" cy="438150"/>
          </a:xfrm>
          <a:prstGeom prst="rect">
            <a:avLst/>
          </a:prstGeom>
        </p:spPr>
        <p:txBody>
          <a:bodyPr vert="horz" lIns="130615" tIns="65308" rIns="130615" bIns="65308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85120" y="7627622"/>
            <a:ext cx="3413760" cy="438150"/>
          </a:xfrm>
          <a:prstGeom prst="rect">
            <a:avLst/>
          </a:prstGeom>
        </p:spPr>
        <p:txBody>
          <a:bodyPr vert="horz" lIns="130615" tIns="65308" rIns="130615" bIns="65308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26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306155" rtl="0" eaLnBrk="1" latinLnBrk="0" hangingPunct="1"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9808" indent="-489808" algn="l" defTabSz="1306155" rtl="0" eaLnBrk="1" latinLnBrk="0" hangingPunct="1">
        <a:spcBef>
          <a:spcPct val="20000"/>
        </a:spcBef>
        <a:buFont typeface="Arial" panose="020B0604020202020204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61251" indent="-408174" algn="l" defTabSz="1306155" rtl="0" eaLnBrk="1" latinLnBrk="0" hangingPunct="1">
        <a:spcBef>
          <a:spcPct val="20000"/>
        </a:spcBef>
        <a:buFont typeface="Arial" panose="020B0604020202020204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694" indent="-326539" algn="l" defTabSz="13061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771" indent="-326539" algn="l" defTabSz="13061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38849" indent="-326539" algn="l" defTabSz="1306155" rtl="0" eaLnBrk="1" latinLnBrk="0" hangingPunct="1">
        <a:spcBef>
          <a:spcPct val="20000"/>
        </a:spcBef>
        <a:buFont typeface="Arial" panose="020B0604020202020204" pitchFamily="34" charset="0"/>
        <a:buChar char="»"/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91926" indent="-326539" algn="l" defTabSz="13061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45003" indent="-326539" algn="l" defTabSz="13061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8082" indent="-326539" algn="l" defTabSz="13061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1160" indent="-326539" algn="l" defTabSz="13061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077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155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233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311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388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465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43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620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EB1700"/>
                </a:solidFill>
                <a:latin typeface="Johnson Display Medium" panose="020B0600000000020000" pitchFamily="34" charset="0"/>
              </a:rPr>
              <a:t>MLflow as a Service: Use Cases &amp; Live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 dirty="0">
                <a:solidFill>
                  <a:srgbClr val="EB1700"/>
                </a:solidFill>
                <a:latin typeface="Johnson Display Medium" panose="020B0600000000020000" pitchFamily="34" charset="0"/>
              </a:rPr>
              <a:t>Professional</a:t>
            </a:r>
            <a:r>
              <a:rPr dirty="0">
                <a:solidFill>
                  <a:srgbClr val="EB1700"/>
                </a:solidFill>
                <a:latin typeface="Johnson Display Medium" panose="020B0600000000020000" pitchFamily="34" charset="0"/>
              </a:rPr>
              <a:t> Overview | 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EB1700"/>
                </a:solidFill>
                <a:latin typeface="Johnson Display Medium" panose="020B0600000000020000" pitchFamily="34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>
              <a:solidFill>
                <a:schemeClr val="tx1"/>
              </a:solidFill>
              <a:latin typeface="Johnson Text Medium" panose="00000600000000000000" pitchFamily="2" charset="0"/>
            </a:endParaRP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  <a:latin typeface="Johnson Text Medium" panose="00000600000000000000" pitchFamily="2" charset="0"/>
              </a:rPr>
              <a:t>• Introduction to MLflow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  <a:latin typeface="Johnson Text Medium" panose="00000600000000000000" pitchFamily="2" charset="0"/>
              </a:rPr>
              <a:t>• Business, MLE, and Product Use Cases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  <a:latin typeface="Johnson Text Medium" panose="00000600000000000000" pitchFamily="2" charset="0"/>
              </a:rPr>
              <a:t>• MLflow Architecture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  <a:latin typeface="Johnson Text Medium" panose="00000600000000000000" pitchFamily="2" charset="0"/>
              </a:rPr>
              <a:t>• Live Demo Overview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  <a:latin typeface="Johnson Text Medium" panose="00000600000000000000" pitchFamily="2" charset="0"/>
              </a:rPr>
              <a:t>• Q&amp;A and Resources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EB1700"/>
                </a:solidFill>
                <a:latin typeface="Johnson Display Medium" panose="020B0600000000020000" pitchFamily="34" charset="0"/>
              </a:rPr>
              <a:t>What is MLflow?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sz="1800" dirty="0">
              <a:solidFill>
                <a:schemeClr val="tx1"/>
              </a:solidFill>
              <a:latin typeface="Johnson Text Medium" panose="00000600000000000000" pitchFamily="2" charset="0"/>
            </a:endParaRP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sz="1800" dirty="0">
                <a:solidFill>
                  <a:schemeClr val="tx1"/>
                </a:solidFill>
                <a:latin typeface="Johnson Text Medium" panose="00000600000000000000" pitchFamily="2" charset="0"/>
              </a:rPr>
              <a:t>• Open-source ML lifecycle platform.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sz="1800" dirty="0">
                <a:solidFill>
                  <a:schemeClr val="tx1"/>
                </a:solidFill>
                <a:latin typeface="Johnson Text Medium" panose="00000600000000000000" pitchFamily="2" charset="0"/>
              </a:rPr>
              <a:t>• Four components: Tracking, Projects, Models, Registry.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sz="1800" dirty="0">
                <a:solidFill>
                  <a:schemeClr val="tx1"/>
                </a:solidFill>
                <a:latin typeface="Johnson Text Medium" panose="00000600000000000000" pitchFamily="2" charset="0"/>
              </a:rPr>
              <a:t>• Framework and cloud agnostic.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sz="1800" dirty="0">
                <a:solidFill>
                  <a:schemeClr val="tx1"/>
                </a:solidFill>
                <a:latin typeface="Johnson Text Medium" panose="00000600000000000000" pitchFamily="2" charset="0"/>
              </a:rPr>
              <a:t>• Works locally or in production as a service.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EB1700"/>
                </a:solidFill>
              </a:rPr>
              <a:t>MLflow as a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>
              <a:solidFill>
                <a:schemeClr val="tx1"/>
              </a:solidFill>
            </a:endParaRP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Hosted MLflow with centralized backend and artifact store.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Collaborative UI for experiment tracking.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REST APIs and SDK for integration.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Supports CI/CD and MLOps workflows.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EB1700"/>
                </a:solidFill>
              </a:rPr>
              <a:t>Use Case 1: Business – Model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>
              <a:solidFill>
                <a:schemeClr val="tx1"/>
              </a:solidFill>
            </a:endParaRP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Need: Auditability and compliance in regulated sectors.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MLflow Feature: Model Registry with version control and stages.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Adds traceability through run linkage, tags, and markdown.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Helps stakeholders review models before production.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EB1700"/>
                </a:solidFill>
              </a:rPr>
              <a:t>Use Case 2: ML Engineer – Experimentation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>
              <a:solidFill>
                <a:schemeClr val="tx1"/>
              </a:solidFill>
            </a:endParaRP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Need: Iterate and compare experiments efficiently.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MLflow Feature: Parameter, metric, artifact logging via SDK or autologging.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Visual comparison of model runs.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Supports collaboration through shared tracking servers.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EB1700"/>
                </a:solidFill>
              </a:rPr>
              <a:t>Use Case 3: Product – Reliable Model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>
              <a:solidFill>
                <a:schemeClr val="tx1"/>
              </a:solidFill>
            </a:endParaRP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Need: Serve and manage models with versioning.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MLflow Feature: Model packaging and serving with reproducibility.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Deploy via REST, AWS, Azure, or KServe.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Safe rollback and promotion via model stages and aliases.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EB1700"/>
                </a:solidFill>
              </a:rPr>
              <a:t>Architecture of MLflow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>
              <a:solidFill>
                <a:schemeClr val="tx1"/>
              </a:solidFill>
            </a:endParaRP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Tracking Server handles API, UI, and metadata requests.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Backend Store for experiment metadata (DB).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Artifact Store for models, plots, etc. (e.g., S3, GCS).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SDK supports Python, Java, R, REST.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EB1700"/>
                </a:solidFill>
              </a:rPr>
              <a:t>MLflow Tracking Demo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>
              <a:solidFill>
                <a:schemeClr val="tx1"/>
              </a:solidFill>
            </a:endParaRP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Live: Train and log a basic model.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Use mlflow.start_run(), log_param(), log_metric().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Show real-time update in MLflow UI.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Visualize experiment comparison in dashboard.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EB1700"/>
                </a:solidFill>
              </a:rPr>
              <a:t>MLflow Model Logging &amp; Registry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>
              <a:solidFill>
                <a:schemeClr val="tx1"/>
              </a:solidFill>
            </a:endParaRP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Log model using mlflow.sklearn.log_model().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Register model into Registry with versioning.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Transition model to Production stage.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Discuss lineage and reproducibility.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EB1700"/>
                </a:solidFill>
              </a:rPr>
              <a:t>MLflow Serving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>
              <a:solidFill>
                <a:schemeClr val="tx1"/>
              </a:solidFill>
            </a:endParaRP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Serve model via mlflow models serve.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Test prediction via local REST API (curl or Python script).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Discuss external deployment options (AWS, Azure, KServe).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Emphasize reproducibility and config tracking.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EB1700"/>
                </a:solidFill>
              </a:rPr>
              <a:t>MLflow in Teams and Enterprises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>
              <a:solidFill>
                <a:schemeClr val="tx1"/>
              </a:solidFill>
            </a:endParaRP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Role-based UI: business, engineering, DevOps.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Logs and lineage help auditing and debugging.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Teams can share experiments and models seamlessly.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• Compatible with Git, CI/CD, cloud platforms.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EB1700"/>
                </a:solidFill>
              </a:rPr>
              <a:t>Recap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>
              <a:solidFill>
                <a:schemeClr val="tx1"/>
              </a:solidFill>
            </a:endParaRP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✔ Auditability for business governance.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✔ Experiment comparison for ML engineers.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✔ Reproducibility and deployment for product.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MLflow streamlines the ML lifecycle across stakeholders.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EB1700"/>
                </a:solidFill>
              </a:rPr>
              <a:t>Detecting Model Drift with MLflow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1800" dirty="0">
              <a:solidFill>
                <a:schemeClr val="tx1"/>
              </a:solidFill>
            </a:endParaRPr>
          </a:p>
          <a:p>
            <a:pPr>
              <a:spcAft>
                <a:spcPts val="1143"/>
              </a:spcAft>
              <a:defRPr sz="1800">
                <a:solidFill>
                  <a:srgbClr val="323232"/>
                </a:solidFill>
              </a:defRPr>
            </a:pPr>
            <a:r>
              <a:rPr sz="1800" dirty="0" smtClean="0">
                <a:solidFill>
                  <a:schemeClr val="tx1"/>
                </a:solidFill>
              </a:rPr>
              <a:t>Scenario</a:t>
            </a:r>
            <a:r>
              <a:rPr sz="1800" dirty="0">
                <a:solidFill>
                  <a:schemeClr val="tx1"/>
                </a:solidFill>
              </a:rPr>
              <a:t>: Telecom churn model shows performance drop over time.</a:t>
            </a:r>
          </a:p>
          <a:p>
            <a:pPr>
              <a:spcAft>
                <a:spcPts val="1143"/>
              </a:spcAft>
              <a:defRPr sz="1800">
                <a:solidFill>
                  <a:srgbClr val="323232"/>
                </a:solidFill>
              </a:defRPr>
            </a:pPr>
            <a:r>
              <a:rPr sz="1800" dirty="0" smtClean="0">
                <a:solidFill>
                  <a:schemeClr val="tx1"/>
                </a:solidFill>
              </a:rPr>
              <a:t>Step </a:t>
            </a:r>
            <a:r>
              <a:rPr sz="1800" dirty="0">
                <a:solidFill>
                  <a:schemeClr val="tx1"/>
                </a:solidFill>
              </a:rPr>
              <a:t>1: Weekly evaluation script logs metrics like AUC, precision, recall via MLflow.</a:t>
            </a:r>
          </a:p>
          <a:p>
            <a:pPr>
              <a:spcAft>
                <a:spcPts val="1143"/>
              </a:spcAft>
              <a:defRPr sz="1800">
                <a:solidFill>
                  <a:srgbClr val="323232"/>
                </a:solidFill>
              </a:defRPr>
            </a:pPr>
            <a:r>
              <a:rPr sz="1800" dirty="0" smtClean="0">
                <a:solidFill>
                  <a:schemeClr val="tx1"/>
                </a:solidFill>
              </a:rPr>
              <a:t>Step </a:t>
            </a:r>
            <a:r>
              <a:rPr sz="1800" dirty="0">
                <a:solidFill>
                  <a:schemeClr val="tx1"/>
                </a:solidFill>
              </a:rPr>
              <a:t>2: Use MLflow UI or API to visualize metric trends (e.g., AUC 0.87 → 0.74).</a:t>
            </a:r>
          </a:p>
          <a:p>
            <a:pPr>
              <a:spcAft>
                <a:spcPts val="1143"/>
              </a:spcAft>
              <a:defRPr sz="1800">
                <a:solidFill>
                  <a:srgbClr val="323232"/>
                </a:solidFill>
              </a:defRPr>
            </a:pPr>
            <a:r>
              <a:rPr sz="1800" dirty="0" smtClean="0">
                <a:solidFill>
                  <a:schemeClr val="tx1"/>
                </a:solidFill>
              </a:rPr>
              <a:t>Step </a:t>
            </a:r>
            <a:r>
              <a:rPr sz="1800" dirty="0">
                <a:solidFill>
                  <a:schemeClr val="tx1"/>
                </a:solidFill>
              </a:rPr>
              <a:t>3: Link runs to specific model versions in the Model Registry to identify drift origin.</a:t>
            </a:r>
          </a:p>
          <a:p>
            <a:pPr>
              <a:spcAft>
                <a:spcPts val="1143"/>
              </a:spcAft>
              <a:defRPr sz="1800">
                <a:solidFill>
                  <a:srgbClr val="323232"/>
                </a:solidFill>
              </a:defRPr>
            </a:pPr>
            <a:r>
              <a:rPr sz="1800" dirty="0" smtClean="0">
                <a:solidFill>
                  <a:schemeClr val="tx1"/>
                </a:solidFill>
              </a:rPr>
              <a:t>Step </a:t>
            </a:r>
            <a:r>
              <a:rPr sz="1800" dirty="0">
                <a:solidFill>
                  <a:schemeClr val="tx1"/>
                </a:solidFill>
              </a:rPr>
              <a:t>4: If AUC &lt; 0.75, auto-trigger retraining using MLflow Projects or send alerts.</a:t>
            </a:r>
          </a:p>
          <a:p>
            <a:pPr>
              <a:spcAft>
                <a:spcPts val="1143"/>
              </a:spcAft>
              <a:defRPr sz="1800">
                <a:solidFill>
                  <a:srgbClr val="323232"/>
                </a:solidFill>
              </a:defRPr>
            </a:pPr>
            <a:r>
              <a:rPr sz="1800" dirty="0" smtClean="0">
                <a:solidFill>
                  <a:schemeClr val="tx1"/>
                </a:solidFill>
              </a:rPr>
              <a:t>Result</a:t>
            </a:r>
            <a:r>
              <a:rPr sz="1800" dirty="0">
                <a:solidFill>
                  <a:schemeClr val="tx1"/>
                </a:solidFill>
              </a:rPr>
              <a:t>: End-to-end visibility, traceability, and automation using MLflow.</a:t>
            </a:r>
          </a:p>
        </p:txBody>
      </p:sp>
    </p:spTree>
    <p:extLst>
      <p:ext uri="{BB962C8B-B14F-4D97-AF65-F5344CB8AC3E}">
        <p14:creationId xmlns:p14="http://schemas.microsoft.com/office/powerpoint/2010/main" val="788457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EB1700"/>
                </a:solidFill>
              </a:rPr>
              <a:t>Q&amp;A +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>
              <a:solidFill>
                <a:schemeClr val="tx1"/>
              </a:solidFill>
            </a:endParaRP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📘 Docs: https://mlflow.org/docs/latest/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📁 GitHub: github.com/mlflow/mlflow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🐳 Try locally with Docker Compose setup.</a:t>
            </a:r>
          </a:p>
          <a:p>
            <a:pPr marL="0" indent="0">
              <a:spcAft>
                <a:spcPts val="1143"/>
              </a:spcAft>
              <a:buNone/>
              <a:defRPr sz="1800">
                <a:solidFill>
                  <a:srgbClr val="3232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🙋 Open for questions before we wrap up!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Johnson Display Medium"/>
        <a:ea typeface=""/>
        <a:cs typeface=""/>
      </a:majorFont>
      <a:minorFont>
        <a:latin typeface="Johnson Tex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634</Words>
  <Application>Microsoft Office PowerPoint</Application>
  <PresentationFormat>Custom</PresentationFormat>
  <Paragraphs>90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MLflow as a Service: Use Cases &amp; Live Demo</vt:lpstr>
      <vt:lpstr>Agenda</vt:lpstr>
      <vt:lpstr>What is MLflow?</vt:lpstr>
      <vt:lpstr>MLflow as a Service</vt:lpstr>
      <vt:lpstr>Use Case 1: Business – Model Governance</vt:lpstr>
      <vt:lpstr>Use Case 2: ML Engineer – Experimentation</vt:lpstr>
      <vt:lpstr>Use Case 3: Product – Reliable Model Delivery</vt:lpstr>
      <vt:lpstr>Architecture of MLflow</vt:lpstr>
      <vt:lpstr>MLflow Tracking Demo Plan</vt:lpstr>
      <vt:lpstr>MLflow Model Logging &amp; Registry Demo</vt:lpstr>
      <vt:lpstr>MLflow Serving Demo</vt:lpstr>
      <vt:lpstr>MLflow in Teams and Enterprises</vt:lpstr>
      <vt:lpstr>Recap &amp; Benefits</vt:lpstr>
      <vt:lpstr>Detecting Model Drift with MLflow</vt:lpstr>
      <vt:lpstr>Q&amp;A + Resources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MLflow as a Service: Use Cases &amp; Live Demo</dc:title>
  <dc:subject/>
  <dc:creator/>
  <cp:keywords/>
  <dc:description>generated using python-pptx</dc:description>
  <cp:lastModifiedBy>Windows User</cp:lastModifiedBy>
  <cp:revision>12</cp:revision>
  <dcterms:created xsi:type="dcterms:W3CDTF">2013-01-27T09:14:16Z</dcterms:created>
  <dcterms:modified xsi:type="dcterms:W3CDTF">2025-11-10T12:02:22Z</dcterms:modified>
  <cp:category/>
</cp:coreProperties>
</file>